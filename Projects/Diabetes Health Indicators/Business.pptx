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Lato Bold" panose="020B0604020202020204" charset="0"/>
      <p:regular r:id="rId12"/>
    </p:embeddedFont>
    <p:embeddedFont>
      <p:font typeface="League Spartan" panose="020B0604020202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1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shita Arya" userId="ff2bba85-5480-493d-a867-2c07ffe14610" providerId="ADAL" clId="{6300F7A4-0646-4A92-BC05-F5CA46E70011}"/>
    <pc:docChg chg="undo custSel modSld">
      <pc:chgData name="Vanshita Arya" userId="ff2bba85-5480-493d-a867-2c07ffe14610" providerId="ADAL" clId="{6300F7A4-0646-4A92-BC05-F5CA46E70011}" dt="2024-10-14T03:55:23.726" v="137" actId="20577"/>
      <pc:docMkLst>
        <pc:docMk/>
      </pc:docMkLst>
      <pc:sldChg chg="modSp mod">
        <pc:chgData name="Vanshita Arya" userId="ff2bba85-5480-493d-a867-2c07ffe14610" providerId="ADAL" clId="{6300F7A4-0646-4A92-BC05-F5CA46E70011}" dt="2024-10-14T03:55:23.726" v="137" actId="20577"/>
        <pc:sldMkLst>
          <pc:docMk/>
          <pc:sldMk cId="0" sldId="257"/>
        </pc:sldMkLst>
        <pc:spChg chg="mod">
          <ac:chgData name="Vanshita Arya" userId="ff2bba85-5480-493d-a867-2c07ffe14610" providerId="ADAL" clId="{6300F7A4-0646-4A92-BC05-F5CA46E70011}" dt="2024-10-14T03:55:23.726" v="137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Vanshita Arya" userId="ff2bba85-5480-493d-a867-2c07ffe14610" providerId="ADAL" clId="{6300F7A4-0646-4A92-BC05-F5CA46E70011}" dt="2024-10-13T09:23:49.193" v="133" actId="1076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Vanshita Arya" userId="ff2bba85-5480-493d-a867-2c07ffe14610" providerId="ADAL" clId="{6300F7A4-0646-4A92-BC05-F5CA46E70011}" dt="2024-10-13T08:09:58.340" v="0" actId="14100"/>
        <pc:sldMkLst>
          <pc:docMk/>
          <pc:sldMk cId="0" sldId="265"/>
        </pc:sldMkLst>
        <pc:spChg chg="mod">
          <ac:chgData name="Vanshita Arya" userId="ff2bba85-5480-493d-a867-2c07ffe14610" providerId="ADAL" clId="{6300F7A4-0646-4A92-BC05-F5CA46E70011}" dt="2024-10-13T08:09:58.340" v="0" actId="14100"/>
          <ac:spMkLst>
            <pc:docMk/>
            <pc:sldMk cId="0" sldId="265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48322" y="4163381"/>
            <a:ext cx="7218503" cy="1305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  <a:spcBef>
                <a:spcPct val="0"/>
              </a:spcBef>
            </a:pPr>
            <a:r>
              <a:rPr lang="en-US" sz="3746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UNDERSTADING THE LANDSCAPE OF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48322" y="5599112"/>
            <a:ext cx="10991397" cy="468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03"/>
              </a:lnSpc>
              <a:spcBef>
                <a:spcPct val="0"/>
              </a:spcBef>
            </a:pPr>
            <a:r>
              <a:rPr lang="en-US" sz="8931" dirty="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DIABETES HEALTH INDICATORS &amp; RISK FACTORS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3648322" y="5611372"/>
            <a:ext cx="9687995" cy="205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3763158" y="387350"/>
            <a:ext cx="4160184" cy="4114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70892" y="-120968"/>
            <a:ext cx="1307196" cy="10528935"/>
            <a:chOff x="0" y="0"/>
            <a:chExt cx="416575" cy="33553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6575" cy="3355340"/>
            </a:xfrm>
            <a:custGeom>
              <a:avLst/>
              <a:gdLst/>
              <a:ahLst/>
              <a:cxnLst/>
              <a:rect l="l" t="t" r="r" b="b"/>
              <a:pathLst>
                <a:path w="416575" h="3355340">
                  <a:moveTo>
                    <a:pt x="0" y="0"/>
                  </a:moveTo>
                  <a:lnTo>
                    <a:pt x="416575" y="0"/>
                  </a:lnTo>
                  <a:lnTo>
                    <a:pt x="416575" y="3355340"/>
                  </a:lnTo>
                  <a:lnTo>
                    <a:pt x="0" y="3355340"/>
                  </a:lnTo>
                  <a:close/>
                </a:path>
              </a:pathLst>
            </a:custGeom>
            <a:solidFill>
              <a:srgbClr val="9F60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51931" y="0"/>
            <a:ext cx="4918717" cy="10287000"/>
            <a:chOff x="0" y="0"/>
            <a:chExt cx="1585919" cy="33167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85919" cy="3316791"/>
            </a:xfrm>
            <a:custGeom>
              <a:avLst/>
              <a:gdLst/>
              <a:ahLst/>
              <a:cxnLst/>
              <a:rect l="l" t="t" r="r" b="b"/>
              <a:pathLst>
                <a:path w="1585919" h="3316791">
                  <a:moveTo>
                    <a:pt x="0" y="0"/>
                  </a:moveTo>
                  <a:lnTo>
                    <a:pt x="1585919" y="0"/>
                  </a:lnTo>
                  <a:lnTo>
                    <a:pt x="1585919" y="3316791"/>
                  </a:lnTo>
                  <a:lnTo>
                    <a:pt x="0" y="3316791"/>
                  </a:lnTo>
                  <a:close/>
                </a:path>
              </a:pathLst>
            </a:custGeom>
            <a:blipFill>
              <a:blip r:embed="rId3"/>
              <a:stretch>
                <a:fillRect t="-337" b="-3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20997" y="1256750"/>
            <a:ext cx="4957463" cy="73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DATASET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20997" y="1994934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20997" y="657543"/>
            <a:ext cx="325577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0997" y="2160916"/>
            <a:ext cx="6630834" cy="276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8"/>
              </a:lnSpc>
              <a:spcBef>
                <a:spcPct val="0"/>
              </a:spcBef>
            </a:pPr>
            <a:r>
              <a:rPr lang="en-US" sz="39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has been collected from the state of USA for the year 2012. It has </a:t>
            </a:r>
            <a:r>
              <a:rPr lang="en-US" sz="394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253,680 </a:t>
            </a:r>
            <a:r>
              <a:rPr lang="en-US" sz="39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entries and </a:t>
            </a:r>
            <a:r>
              <a:rPr lang="en-US" sz="394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22</a:t>
            </a:r>
            <a:r>
              <a:rPr lang="en-US" sz="39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0853" y="5181599"/>
            <a:ext cx="6630834" cy="5231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8"/>
              </a:lnSpc>
            </a:pPr>
            <a:r>
              <a:rPr lang="en-US" sz="36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various health indicators such as </a:t>
            </a:r>
            <a:r>
              <a:rPr lang="en-US" sz="364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blood pressure</a:t>
            </a:r>
            <a:r>
              <a:rPr lang="en-US" sz="36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4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cholesterol levels</a:t>
            </a:r>
            <a:r>
              <a:rPr lang="en-US" sz="36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4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BMI</a:t>
            </a:r>
            <a:r>
              <a:rPr lang="en-US" sz="36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4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smoking status</a:t>
            </a:r>
            <a:r>
              <a:rPr lang="en-US" sz="36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4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physical activity</a:t>
            </a:r>
            <a:r>
              <a:rPr lang="en-US" sz="36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4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mental and physical health</a:t>
            </a:r>
            <a:r>
              <a:rPr lang="en-US" sz="36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364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demographics </a:t>
            </a:r>
            <a:r>
              <a:rPr lang="en-US" sz="364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 age, sex, education, and income.</a:t>
            </a:r>
          </a:p>
          <a:p>
            <a:pPr algn="l">
              <a:lnSpc>
                <a:spcPts val="5108"/>
              </a:lnSpc>
              <a:spcBef>
                <a:spcPct val="0"/>
              </a:spcBef>
            </a:pPr>
            <a:endParaRPr lang="en-US" sz="364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711240" y="-120968"/>
            <a:ext cx="2466847" cy="10528935"/>
            <a:chOff x="0" y="0"/>
            <a:chExt cx="786130" cy="33553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6130" cy="3355340"/>
            </a:xfrm>
            <a:custGeom>
              <a:avLst/>
              <a:gdLst/>
              <a:ahLst/>
              <a:cxnLst/>
              <a:rect l="l" t="t" r="r" b="b"/>
              <a:pathLst>
                <a:path w="786130" h="3355340">
                  <a:moveTo>
                    <a:pt x="0" y="0"/>
                  </a:moveTo>
                  <a:lnTo>
                    <a:pt x="786130" y="0"/>
                  </a:lnTo>
                  <a:lnTo>
                    <a:pt x="786130" y="3355340"/>
                  </a:lnTo>
                  <a:lnTo>
                    <a:pt x="0" y="3355340"/>
                  </a:lnTo>
                  <a:close/>
                </a:path>
              </a:pathLst>
            </a:custGeom>
            <a:solidFill>
              <a:srgbClr val="9F60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20" y="1494821"/>
            <a:ext cx="5481176" cy="73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TARGET VARIABLE</a:t>
            </a:r>
          </a:p>
        </p:txBody>
      </p:sp>
      <p:sp>
        <p:nvSpPr>
          <p:cNvPr id="9" name="AutoShape 9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/>
          <p:cNvSpPr/>
          <p:nvPr/>
        </p:nvSpPr>
        <p:spPr>
          <a:xfrm>
            <a:off x="1029792" y="2252109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028720" y="952500"/>
            <a:ext cx="325577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THE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7649" y="2718834"/>
            <a:ext cx="6977724" cy="630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39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we are examining the Risk factors and Diabetes health indicators, so in all, our target variable is </a:t>
            </a:r>
            <a:r>
              <a:rPr lang="en-US" sz="39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`Diabetes_012`</a:t>
            </a:r>
            <a:r>
              <a:rPr lang="en-US" sz="39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represents the diabetes status</a:t>
            </a:r>
          </a:p>
          <a:p>
            <a:pPr marL="852801" lvl="1" indent="-426400" algn="l">
              <a:lnSpc>
                <a:spcPts val="5529"/>
              </a:lnSpc>
              <a:buFont typeface="Arial"/>
              <a:buChar char="•"/>
            </a:pPr>
            <a:r>
              <a:rPr lang="en-US" sz="39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</a:t>
            </a:r>
            <a:r>
              <a:rPr lang="en-US" sz="39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no diabetes</a:t>
            </a:r>
          </a:p>
          <a:p>
            <a:pPr marL="852801" lvl="1" indent="-426400" algn="l">
              <a:lnSpc>
                <a:spcPts val="5529"/>
              </a:lnSpc>
              <a:buFont typeface="Arial"/>
              <a:buChar char="•"/>
            </a:pPr>
            <a:r>
              <a:rPr lang="en-US" sz="39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  <a:r>
              <a:rPr lang="en-US" sz="39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prediabetes</a:t>
            </a:r>
          </a:p>
          <a:p>
            <a:pPr marL="852801" lvl="1" indent="-426400" algn="l">
              <a:lnSpc>
                <a:spcPts val="5529"/>
              </a:lnSpc>
              <a:buFont typeface="Arial"/>
              <a:buChar char="•"/>
            </a:pPr>
            <a:r>
              <a:rPr lang="en-US" sz="39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  <a:r>
              <a:rPr lang="en-US" sz="39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diabetes</a:t>
            </a:r>
          </a:p>
          <a:p>
            <a:pPr algn="l">
              <a:lnSpc>
                <a:spcPts val="5529"/>
              </a:lnSpc>
              <a:spcBef>
                <a:spcPct val="0"/>
              </a:spcBef>
            </a:pPr>
            <a:endParaRPr lang="en-US" sz="394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783356" cy="10287000"/>
            <a:chOff x="0" y="0"/>
            <a:chExt cx="204993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49937" cy="2709333"/>
            </a:xfrm>
            <a:custGeom>
              <a:avLst/>
              <a:gdLst/>
              <a:ahLst/>
              <a:cxnLst/>
              <a:rect l="l" t="t" r="r" b="b"/>
              <a:pathLst>
                <a:path w="2049937" h="2709333">
                  <a:moveTo>
                    <a:pt x="0" y="0"/>
                  </a:moveTo>
                  <a:lnTo>
                    <a:pt x="2049937" y="0"/>
                  </a:lnTo>
                  <a:lnTo>
                    <a:pt x="204993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49937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897966" y="1172921"/>
            <a:ext cx="5761990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7783356" y="1153871"/>
            <a:ext cx="10504644" cy="8104429"/>
          </a:xfrm>
          <a:custGeom>
            <a:avLst/>
            <a:gdLst/>
            <a:ahLst/>
            <a:cxnLst/>
            <a:rect l="l" t="t" r="r" b="b"/>
            <a:pathLst>
              <a:path w="10504644" h="8104429">
                <a:moveTo>
                  <a:pt x="0" y="0"/>
                </a:moveTo>
                <a:lnTo>
                  <a:pt x="10504644" y="0"/>
                </a:lnTo>
                <a:lnTo>
                  <a:pt x="10504644" y="8104429"/>
                </a:lnTo>
                <a:lnTo>
                  <a:pt x="0" y="81044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897966" y="1460199"/>
            <a:ext cx="6025642" cy="2084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2"/>
              </a:lnSpc>
              <a:spcBef>
                <a:spcPct val="0"/>
              </a:spcBef>
            </a:pPr>
            <a:r>
              <a:rPr lang="en-US" sz="380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target variable </a:t>
            </a:r>
            <a:r>
              <a:rPr lang="en-US" sz="380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Diabetes</a:t>
            </a:r>
            <a:r>
              <a:rPr lang="en-US" sz="380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shows the distribution of diabetes status in the dataset: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7966" y="3853780"/>
            <a:ext cx="6025642" cy="579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9240" lvl="1" indent="-389620" algn="l">
              <a:lnSpc>
                <a:spcPts val="5052"/>
              </a:lnSpc>
              <a:buFont typeface="Arial"/>
              <a:buChar char="•"/>
            </a:pPr>
            <a:r>
              <a:rPr lang="en-US" sz="360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majority (84%) of individuals do not have Diabetes.</a:t>
            </a:r>
          </a:p>
          <a:p>
            <a:pPr marL="779240" lvl="1" indent="-389620" algn="l">
              <a:lnSpc>
                <a:spcPts val="5052"/>
              </a:lnSpc>
              <a:buFont typeface="Arial"/>
              <a:buChar char="•"/>
            </a:pPr>
            <a:r>
              <a:rPr lang="en-US" sz="360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fewer cases of Prediabetic (2%) and Diabetic (14%) symptoms compare to No Diabetes category .</a:t>
            </a:r>
          </a:p>
          <a:p>
            <a:pPr algn="l">
              <a:lnSpc>
                <a:spcPts val="5052"/>
              </a:lnSpc>
              <a:spcBef>
                <a:spcPct val="0"/>
              </a:spcBef>
            </a:pPr>
            <a:endParaRPr lang="en-US" sz="360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5265447" cy="72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2"/>
              </a:lnSpc>
              <a:spcBef>
                <a:spcPct val="0"/>
              </a:spcBef>
            </a:pPr>
            <a:r>
              <a:rPr lang="en-US" sz="39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initial understanding, the following points to be consider: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62025"/>
            <a:ext cx="13918754" cy="7109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endParaRPr dirty="0"/>
          </a:p>
          <a:p>
            <a:pPr marL="865598" lvl="1" indent="-432799" algn="l">
              <a:lnSpc>
                <a:spcPts val="5612"/>
              </a:lnSpc>
              <a:buAutoNum type="arabicPeriod"/>
            </a:pPr>
            <a:r>
              <a:rPr lang="en-US" sz="40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are several binary health indicators (</a:t>
            </a:r>
            <a:r>
              <a:rPr lang="en-US" sz="400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HighBP</a:t>
            </a:r>
            <a:r>
              <a:rPr lang="en-US" sz="400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</a:t>
            </a:r>
            <a:r>
              <a:rPr lang="en-US" sz="400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HighChol</a:t>
            </a:r>
            <a:r>
              <a:rPr lang="en-US" sz="400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</a:t>
            </a:r>
            <a:r>
              <a:rPr lang="en-US" sz="400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CholCheck</a:t>
            </a:r>
            <a:r>
              <a:rPr lang="en-US" sz="40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that could be important predictors of diabetes.</a:t>
            </a:r>
          </a:p>
          <a:p>
            <a:pPr marL="865598" lvl="1" indent="-432799" algn="l">
              <a:lnSpc>
                <a:spcPts val="5612"/>
              </a:lnSpc>
              <a:buAutoNum type="arabicPeriod"/>
            </a:pPr>
            <a:r>
              <a:rPr lang="en-US" sz="40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 variables like </a:t>
            </a:r>
            <a:r>
              <a:rPr lang="en-US" sz="400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Sex, Age, Education, and Income</a:t>
            </a:r>
            <a:r>
              <a:rPr lang="en-US" sz="40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present and might provide valuable insights.</a:t>
            </a:r>
          </a:p>
          <a:p>
            <a:pPr marL="865598" lvl="1" indent="-432799" algn="l">
              <a:lnSpc>
                <a:spcPts val="5612"/>
              </a:lnSpc>
              <a:buAutoNum type="arabicPeriod"/>
            </a:pPr>
            <a:r>
              <a:rPr lang="en-US" sz="400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BMI</a:t>
            </a:r>
            <a:r>
              <a:rPr lang="en-US" sz="40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could be a significant predictor, given that </a:t>
            </a:r>
            <a:r>
              <a:rPr lang="en-US" sz="400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obesity</a:t>
            </a:r>
            <a:r>
              <a:rPr lang="en-US" sz="40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known </a:t>
            </a:r>
            <a:r>
              <a:rPr lang="en-US" sz="400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 factor</a:t>
            </a:r>
            <a:r>
              <a:rPr lang="en-US" sz="40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diabetes.</a:t>
            </a:r>
          </a:p>
          <a:p>
            <a:pPr marL="865598" lvl="1" indent="-432799" algn="l">
              <a:lnSpc>
                <a:spcPts val="5612"/>
              </a:lnSpc>
              <a:spcBef>
                <a:spcPct val="0"/>
              </a:spcBef>
              <a:buAutoNum type="arabicPeriod"/>
            </a:pPr>
            <a:r>
              <a:rPr lang="en-US" sz="40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 and physical health indicators (</a:t>
            </a:r>
            <a:r>
              <a:rPr lang="en-US" sz="400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MentHlth</a:t>
            </a:r>
            <a:r>
              <a:rPr lang="en-US" sz="400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</a:t>
            </a:r>
            <a:r>
              <a:rPr lang="en-US" sz="400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PhysHlth</a:t>
            </a:r>
            <a:r>
              <a:rPr lang="en-US" sz="40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might also play a role in diabetes risk.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960082" y="0"/>
            <a:ext cx="1327918" cy="10287000"/>
            <a:chOff x="0" y="0"/>
            <a:chExt cx="349740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9740" cy="2709333"/>
            </a:xfrm>
            <a:custGeom>
              <a:avLst/>
              <a:gdLst/>
              <a:ahLst/>
              <a:cxnLst/>
              <a:rect l="l" t="t" r="r" b="b"/>
              <a:pathLst>
                <a:path w="349740" h="2709333">
                  <a:moveTo>
                    <a:pt x="0" y="0"/>
                  </a:moveTo>
                  <a:lnTo>
                    <a:pt x="349740" y="0"/>
                  </a:lnTo>
                  <a:lnTo>
                    <a:pt x="3497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4974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94147" y="-241935"/>
            <a:ext cx="665935" cy="10528935"/>
            <a:chOff x="0" y="0"/>
            <a:chExt cx="212219" cy="33553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219" cy="3355340"/>
            </a:xfrm>
            <a:custGeom>
              <a:avLst/>
              <a:gdLst/>
              <a:ahLst/>
              <a:cxnLst/>
              <a:rect l="l" t="t" r="r" b="b"/>
              <a:pathLst>
                <a:path w="212219" h="3355340">
                  <a:moveTo>
                    <a:pt x="0" y="0"/>
                  </a:moveTo>
                  <a:lnTo>
                    <a:pt x="212219" y="0"/>
                  </a:lnTo>
                  <a:lnTo>
                    <a:pt x="212219" y="3355340"/>
                  </a:lnTo>
                  <a:lnTo>
                    <a:pt x="0" y="3355340"/>
                  </a:lnTo>
                  <a:close/>
                </a:path>
              </a:pathLst>
            </a:custGeom>
            <a:solidFill>
              <a:srgbClr val="9F60E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04542" y="8822159"/>
            <a:ext cx="15265447" cy="72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2"/>
              </a:lnSpc>
              <a:spcBef>
                <a:spcPct val="0"/>
              </a:spcBef>
            </a:pPr>
            <a:r>
              <a:rPr lang="en-US" sz="39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focus 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763158" y="387350"/>
            <a:ext cx="4160184" cy="4114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300042" y="4118824"/>
            <a:ext cx="9050301" cy="238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0"/>
              </a:lnSpc>
            </a:pPr>
            <a:r>
              <a:rPr lang="en-US" sz="6507" b="1">
                <a:solidFill>
                  <a:srgbClr val="4343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Diabetes Health Indicators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704101" y="0"/>
            <a:ext cx="192499" cy="10287000"/>
            <a:chOff x="0" y="0"/>
            <a:chExt cx="50699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699" cy="2709333"/>
            </a:xfrm>
            <a:custGeom>
              <a:avLst/>
              <a:gdLst/>
              <a:ahLst/>
              <a:cxnLst/>
              <a:rect l="l" t="t" r="r" b="b"/>
              <a:pathLst>
                <a:path w="50699" h="2709333">
                  <a:moveTo>
                    <a:pt x="0" y="0"/>
                  </a:moveTo>
                  <a:lnTo>
                    <a:pt x="50699" y="0"/>
                  </a:lnTo>
                  <a:lnTo>
                    <a:pt x="506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069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502102" y="9482992"/>
            <a:ext cx="1305498" cy="326375"/>
          </a:xfrm>
          <a:custGeom>
            <a:avLst/>
            <a:gdLst/>
            <a:ahLst/>
            <a:cxnLst/>
            <a:rect l="l" t="t" r="r" b="b"/>
            <a:pathLst>
              <a:path w="1305498" h="326375">
                <a:moveTo>
                  <a:pt x="0" y="0"/>
                </a:moveTo>
                <a:lnTo>
                  <a:pt x="1305498" y="0"/>
                </a:lnTo>
                <a:lnTo>
                  <a:pt x="1305498" y="326375"/>
                </a:lnTo>
                <a:lnTo>
                  <a:pt x="0" y="32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1211732" y="4280537"/>
            <a:ext cx="3189339" cy="2793344"/>
          </a:xfrm>
          <a:custGeom>
            <a:avLst/>
            <a:gdLst/>
            <a:ahLst/>
            <a:cxnLst/>
            <a:rect l="l" t="t" r="r" b="b"/>
            <a:pathLst>
              <a:path w="3189339" h="2793344">
                <a:moveTo>
                  <a:pt x="0" y="0"/>
                </a:moveTo>
                <a:lnTo>
                  <a:pt x="3189339" y="0"/>
                </a:lnTo>
                <a:lnTo>
                  <a:pt x="3189339" y="2793344"/>
                </a:lnTo>
                <a:lnTo>
                  <a:pt x="0" y="27933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13" r="-9251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4716203" y="4280537"/>
            <a:ext cx="3571797" cy="3109011"/>
          </a:xfrm>
          <a:custGeom>
            <a:avLst/>
            <a:gdLst/>
            <a:ahLst/>
            <a:cxnLst/>
            <a:rect l="l" t="t" r="r" b="b"/>
            <a:pathLst>
              <a:path w="3571797" h="3109011">
                <a:moveTo>
                  <a:pt x="0" y="0"/>
                </a:moveTo>
                <a:lnTo>
                  <a:pt x="3571797" y="0"/>
                </a:lnTo>
                <a:lnTo>
                  <a:pt x="3571797" y="3109011"/>
                </a:lnTo>
                <a:lnTo>
                  <a:pt x="0" y="31090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922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1037476" y="7073881"/>
            <a:ext cx="3678728" cy="3213119"/>
          </a:xfrm>
          <a:custGeom>
            <a:avLst/>
            <a:gdLst/>
            <a:ahLst/>
            <a:cxnLst/>
            <a:rect l="l" t="t" r="r" b="b"/>
            <a:pathLst>
              <a:path w="3678728" h="3213119">
                <a:moveTo>
                  <a:pt x="0" y="0"/>
                </a:moveTo>
                <a:lnTo>
                  <a:pt x="3678727" y="0"/>
                </a:lnTo>
                <a:lnTo>
                  <a:pt x="3678727" y="3213119"/>
                </a:lnTo>
                <a:lnTo>
                  <a:pt x="0" y="32131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8987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4118800" y="182807"/>
            <a:ext cx="4193716" cy="3715289"/>
          </a:xfrm>
          <a:custGeom>
            <a:avLst/>
            <a:gdLst/>
            <a:ahLst/>
            <a:cxnLst/>
            <a:rect l="l" t="t" r="r" b="b"/>
            <a:pathLst>
              <a:path w="4193716" h="3715289">
                <a:moveTo>
                  <a:pt x="0" y="0"/>
                </a:moveTo>
                <a:lnTo>
                  <a:pt x="4193717" y="0"/>
                </a:lnTo>
                <a:lnTo>
                  <a:pt x="4193717" y="3715289"/>
                </a:lnTo>
                <a:lnTo>
                  <a:pt x="0" y="37152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6948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1018426" y="339574"/>
            <a:ext cx="2978549" cy="3401754"/>
          </a:xfrm>
          <a:custGeom>
            <a:avLst/>
            <a:gdLst/>
            <a:ahLst/>
            <a:cxnLst/>
            <a:rect l="l" t="t" r="r" b="b"/>
            <a:pathLst>
              <a:path w="2978549" h="3401754">
                <a:moveTo>
                  <a:pt x="0" y="0"/>
                </a:moveTo>
                <a:lnTo>
                  <a:pt x="2978549" y="0"/>
                </a:lnTo>
                <a:lnTo>
                  <a:pt x="2978549" y="3401754"/>
                </a:lnTo>
                <a:lnTo>
                  <a:pt x="0" y="34017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0766" r="-4176" b="-1476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0" y="78032"/>
            <a:ext cx="10410018" cy="1274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573" lvl="1" indent="-372287" algn="l">
              <a:lnSpc>
                <a:spcPts val="4828"/>
              </a:lnSpc>
              <a:buFont typeface="Arial"/>
              <a:buChar char="•"/>
            </a:pP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34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gender distribution</a:t>
            </a: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have majorly female (56%) out of total and rest are male.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100" y="4170417"/>
            <a:ext cx="10429068" cy="188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573" lvl="1" indent="-372287" algn="l">
              <a:lnSpc>
                <a:spcPts val="4828"/>
              </a:lnSpc>
              <a:buFont typeface="Arial"/>
              <a:buChar char="•"/>
            </a:pP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Around </a:t>
            </a:r>
            <a:r>
              <a:rPr lang="en-US" sz="34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43%</a:t>
            </a: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population </a:t>
            </a:r>
            <a:r>
              <a:rPr lang="en-US" sz="34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has high blood pressure</a:t>
            </a: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with a higher prevalence among those with diabetes.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19050" y="5981761"/>
            <a:ext cx="10429068" cy="249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573" lvl="1" indent="-372287" algn="l">
              <a:lnSpc>
                <a:spcPts val="4828"/>
              </a:lnSpc>
              <a:buFont typeface="Arial"/>
              <a:buChar char="•"/>
            </a:pP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Around 96% individuals have checked their cholesterol in which more than </a:t>
            </a:r>
            <a:r>
              <a:rPr lang="en-US" sz="34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40%</a:t>
            </a: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population has</a:t>
            </a:r>
            <a:r>
              <a:rPr lang="en-US" sz="34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detected high cholesterol</a:t>
            </a: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among individuals with prediabetic and diabetic.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150" y="8402760"/>
            <a:ext cx="10410018" cy="188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573" lvl="1" indent="-372287" algn="l">
              <a:lnSpc>
                <a:spcPts val="4828"/>
              </a:lnSpc>
              <a:buFont typeface="Arial"/>
              <a:buChar char="•"/>
            </a:pP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Around </a:t>
            </a:r>
            <a:r>
              <a:rPr lang="en-US" sz="34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44%</a:t>
            </a: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individuals have a </a:t>
            </a:r>
            <a:r>
              <a:rPr lang="en-US" sz="34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history of smoking</a:t>
            </a: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Smoking prevalence is higher in individuals with diabetes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100" y="1209743"/>
            <a:ext cx="10410018" cy="310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573" lvl="1" indent="-372287" algn="l">
              <a:lnSpc>
                <a:spcPts val="4828"/>
              </a:lnSpc>
              <a:buFont typeface="Arial"/>
              <a:buChar char="•"/>
            </a:pP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population is predominantly middle-aged, with the majority concentrated between 50 and 74 years, indicating a </a:t>
            </a:r>
            <a:r>
              <a:rPr lang="en-US" sz="34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mature demographic</a:t>
            </a: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Age range extends from about category 1 (18-24 years) to 13 (80 or older).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637535" y="211254"/>
            <a:ext cx="6818124" cy="5230735"/>
          </a:xfrm>
          <a:custGeom>
            <a:avLst/>
            <a:gdLst/>
            <a:ahLst/>
            <a:cxnLst/>
            <a:rect l="l" t="t" r="r" b="b"/>
            <a:pathLst>
              <a:path w="6818124" h="5230735">
                <a:moveTo>
                  <a:pt x="0" y="0"/>
                </a:moveTo>
                <a:lnTo>
                  <a:pt x="6818124" y="0"/>
                </a:lnTo>
                <a:lnTo>
                  <a:pt x="6818124" y="5230734"/>
                </a:lnTo>
                <a:lnTo>
                  <a:pt x="0" y="5230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 rot="5400000">
            <a:off x="8959850" y="-3575012"/>
            <a:ext cx="368300" cy="18288000"/>
            <a:chOff x="0" y="0"/>
            <a:chExt cx="97001" cy="48165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001" cy="4816592"/>
            </a:xfrm>
            <a:custGeom>
              <a:avLst/>
              <a:gdLst/>
              <a:ahLst/>
              <a:cxnLst/>
              <a:rect l="l" t="t" r="r" b="b"/>
              <a:pathLst>
                <a:path w="97001" h="4816592">
                  <a:moveTo>
                    <a:pt x="0" y="0"/>
                  </a:moveTo>
                  <a:lnTo>
                    <a:pt x="97001" y="0"/>
                  </a:lnTo>
                  <a:lnTo>
                    <a:pt x="970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97001" cy="4864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946242" y="1918734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AutoShape 8"/>
          <p:cNvSpPr/>
          <p:nvPr/>
        </p:nvSpPr>
        <p:spPr>
          <a:xfrm>
            <a:off x="9620250" y="6739304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7405841" y="6901229"/>
            <a:ext cx="392717" cy="1565177"/>
          </a:xfrm>
          <a:custGeom>
            <a:avLst/>
            <a:gdLst/>
            <a:ahLst/>
            <a:cxnLst/>
            <a:rect l="l" t="t" r="r" b="b"/>
            <a:pathLst>
              <a:path w="392717" h="1565177">
                <a:moveTo>
                  <a:pt x="0" y="0"/>
                </a:moveTo>
                <a:lnTo>
                  <a:pt x="392718" y="0"/>
                </a:lnTo>
                <a:lnTo>
                  <a:pt x="392718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7416358" y="1704771"/>
            <a:ext cx="392717" cy="1565177"/>
          </a:xfrm>
          <a:custGeom>
            <a:avLst/>
            <a:gdLst/>
            <a:ahLst/>
            <a:cxnLst/>
            <a:rect l="l" t="t" r="r" b="b"/>
            <a:pathLst>
              <a:path w="392717" h="1565177">
                <a:moveTo>
                  <a:pt x="0" y="0"/>
                </a:moveTo>
                <a:lnTo>
                  <a:pt x="392717" y="0"/>
                </a:lnTo>
                <a:lnTo>
                  <a:pt x="392717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219075" y="5962688"/>
            <a:ext cx="4149274" cy="3755824"/>
          </a:xfrm>
          <a:custGeom>
            <a:avLst/>
            <a:gdLst/>
            <a:ahLst/>
            <a:cxnLst/>
            <a:rect l="l" t="t" r="r" b="b"/>
            <a:pathLst>
              <a:path w="4149274" h="3755824">
                <a:moveTo>
                  <a:pt x="0" y="0"/>
                </a:moveTo>
                <a:lnTo>
                  <a:pt x="4149274" y="0"/>
                </a:lnTo>
                <a:lnTo>
                  <a:pt x="4149274" y="3755825"/>
                </a:lnTo>
                <a:lnTo>
                  <a:pt x="0" y="3755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2689" r="-96771" b="-87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4579342" y="5962688"/>
            <a:ext cx="4141930" cy="3755824"/>
          </a:xfrm>
          <a:custGeom>
            <a:avLst/>
            <a:gdLst/>
            <a:ahLst/>
            <a:cxnLst/>
            <a:rect l="l" t="t" r="r" b="b"/>
            <a:pathLst>
              <a:path w="4141930" h="3755824">
                <a:moveTo>
                  <a:pt x="0" y="0"/>
                </a:moveTo>
                <a:lnTo>
                  <a:pt x="4141931" y="0"/>
                </a:lnTo>
                <a:lnTo>
                  <a:pt x="4141931" y="3755825"/>
                </a:lnTo>
                <a:lnTo>
                  <a:pt x="0" y="3755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2871" r="-97119" b="-87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028720" y="1151975"/>
            <a:ext cx="4957463" cy="73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BMI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20250" y="6083300"/>
            <a:ext cx="6940093" cy="58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8"/>
              </a:lnSpc>
              <a:spcBef>
                <a:spcPct val="0"/>
              </a:spcBef>
            </a:pPr>
            <a:r>
              <a:rPr lang="en-US" sz="34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PHYSICAL &amp; MENTAL HEALTH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173085"/>
            <a:ext cx="6014067" cy="250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6"/>
              </a:lnSpc>
              <a:spcBef>
                <a:spcPct val="0"/>
              </a:spcBef>
            </a:pPr>
            <a:r>
              <a:rPr lang="en-US" sz="28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 the population falls within normal to slightly elevated BMI levels (20 to 35), there are a few cases of severe obesity with BMI values exceeding 40..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20250" y="6844594"/>
            <a:ext cx="7442691" cy="3061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8"/>
              </a:lnSpc>
              <a:spcBef>
                <a:spcPct val="0"/>
              </a:spcBef>
            </a:pPr>
            <a:r>
              <a:rPr lang="en-US" sz="2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physical and mental health data exhibit similar patterns of skewness and distribution. While the median for both datasets is around 3, there is a significant spread of scores, suggesting that individual experiences of health vary widely.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763158" y="387350"/>
            <a:ext cx="4160184" cy="4114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300042" y="4118824"/>
            <a:ext cx="9050301" cy="238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0"/>
              </a:lnSpc>
            </a:pPr>
            <a:r>
              <a:rPr lang="en-US" sz="6507" b="1">
                <a:solidFill>
                  <a:srgbClr val="4343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Risk Factors and their Relationship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937926" cy="10287000"/>
            <a:chOff x="0" y="0"/>
            <a:chExt cx="5104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0400" cy="2709333"/>
            </a:xfrm>
            <a:custGeom>
              <a:avLst/>
              <a:gdLst/>
              <a:ahLst/>
              <a:cxnLst/>
              <a:rect l="l" t="t" r="r" b="b"/>
              <a:pathLst>
                <a:path w="510400" h="2709333">
                  <a:moveTo>
                    <a:pt x="0" y="0"/>
                  </a:moveTo>
                  <a:lnTo>
                    <a:pt x="510400" y="0"/>
                  </a:lnTo>
                  <a:lnTo>
                    <a:pt x="510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104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114992" y="9659269"/>
            <a:ext cx="2087283" cy="521821"/>
          </a:xfrm>
          <a:custGeom>
            <a:avLst/>
            <a:gdLst/>
            <a:ahLst/>
            <a:cxnLst/>
            <a:rect l="l" t="t" r="r" b="b"/>
            <a:pathLst>
              <a:path w="2087283" h="521821">
                <a:moveTo>
                  <a:pt x="0" y="0"/>
                </a:moveTo>
                <a:lnTo>
                  <a:pt x="2087283" y="0"/>
                </a:lnTo>
                <a:lnTo>
                  <a:pt x="2087283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547167" y="2069218"/>
            <a:ext cx="14712133" cy="4725492"/>
          </a:xfrm>
          <a:custGeom>
            <a:avLst/>
            <a:gdLst/>
            <a:ahLst/>
            <a:cxnLst/>
            <a:rect l="l" t="t" r="r" b="b"/>
            <a:pathLst>
              <a:path w="14626408" h="4003979">
                <a:moveTo>
                  <a:pt x="0" y="0"/>
                </a:moveTo>
                <a:lnTo>
                  <a:pt x="14626408" y="0"/>
                </a:lnTo>
                <a:lnTo>
                  <a:pt x="14626408" y="4003980"/>
                </a:lnTo>
                <a:lnTo>
                  <a:pt x="0" y="4003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2547167" y="375823"/>
            <a:ext cx="14463529" cy="131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 BETWEEN DIABETES STATUS AND THREE VARIABLES: </a:t>
            </a: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BMI, HIGH BLOOD PRESSURE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33304" y="7347109"/>
            <a:ext cx="12821391" cy="191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  <a:spcBef>
                <a:spcPct val="0"/>
              </a:spcBef>
            </a:pPr>
            <a:r>
              <a:rPr lang="en-US" sz="35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analysis suggests that individuals with diabetes tend to have higher BMI, higher blood pressure, and be older compared to those without diabetes or with prediabetes.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510</Words>
  <Application>Microsoft Office PowerPoint</Application>
  <PresentationFormat>Custom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Lato Bold</vt:lpstr>
      <vt:lpstr>Times New Roman</vt:lpstr>
      <vt:lpstr>Arial</vt:lpstr>
      <vt:lpstr>Calibri</vt:lpstr>
      <vt:lpstr>League Spartan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</dc:title>
  <cp:lastModifiedBy>Vanshita Arya</cp:lastModifiedBy>
  <cp:revision>1</cp:revision>
  <dcterms:created xsi:type="dcterms:W3CDTF">2006-08-16T00:00:00Z</dcterms:created>
  <dcterms:modified xsi:type="dcterms:W3CDTF">2024-10-14T03:58:21Z</dcterms:modified>
  <dc:identifier>DAGTHYslwaM</dc:identifier>
</cp:coreProperties>
</file>